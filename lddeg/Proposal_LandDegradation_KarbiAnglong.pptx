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synthetic demonstration run; say so if asked. The blindness is a property of the METHOD and persists on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852160" cy="5852160"/>
          </a:xfrm>
          <a:prstGeom prst="ellipse">
            <a:avLst/>
          </a:prstGeom>
          <a:solidFill>
            <a:srgbClr val="2C6E49">
              <a:alpha val="4500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2743200"/>
            <a:ext cx="4023360" cy="4023360"/>
          </a:xfrm>
          <a:prstGeom prst="ellipse">
            <a:avLst/>
          </a:prstGeom>
          <a:solidFill>
            <a:srgbClr val="4C956C">
              <a:alpha val="35000"/>
            </a:srgbClr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 |  SEMESTER VIII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Sensing-Based Detection of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Degradation &amp; Vegetation Dynamics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Multi-Temporal Geospatial Data — A Trajectory-Based Analysis of Karbi Anglong, Assam (1990–2025)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2834640" cy="18288"/>
          </a:xfrm>
          <a:prstGeom prst="rect">
            <a:avLst/>
          </a:prstGeom>
          <a:solidFill>
            <a:srgbClr val="D68C45"/>
          </a:solidFill>
          <a:ln w="12700">
            <a:solidFill>
              <a:srgbClr val="D68C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[Your Names]  |  [Roll Numbers]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[Guide Name]  ·  Department of [Dept], [College]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the Desertification Atlas Cannot See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land area is under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processes (SAC-ISRO)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53712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Assam's 'degraded' share by the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desertification-oriented atlas lens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1584" y="16002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 → 4–5 yr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30184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shortening of jhum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— never tested with time series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402336" cy="402336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6393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degradation is different.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9136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erosion, forest loss and jhum intensification — not desertification. The standard lens undercounts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43984"/>
            <a:ext cx="402336" cy="402336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4256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Jhum is cyclic by definition.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70001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Slash, cultivate, fallow, regrow. Every standard trend test assumes monotonic change — the assumption fails exactly here.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30368"/>
            <a:ext cx="402336" cy="402336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quantified the failure.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48640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studies map jhum extent between year-pairs; none characterise 35-year pixel trajectories or test what linear trends miss.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trends cannot see cyclic degradation.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6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Mann-Kendall and Sen's slope — the backbone of NDVI-based degradation assessment — test for monotonic change. A jhum pixel cycles: cyclic variance either masks a genuine embedded decline (intensification goes undetected) or, unluckily phased, mimics one (healthy rotation flagged as loss). Wessels et al. (2012) showed NDVI must fall 30–40% before trend tests reach significance; in cyclic systems the bar is higher still.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10698480" cy="1325880"/>
          </a:xfrm>
          <a:prstGeom prst="roundRect">
            <a:avLst>
              <a:gd name="adj" fmla="val 4138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657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classify each pixel's 36-year TRAJECTORY — fusing trend, rainfall-decoupled residuals (RESTREND), breakpoint structure (LandTrendr) and spectral cyclicity — into stable, cropland, cyclic jhum, degrading, or recovering, and quantify exactly what the standard method misses.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Pasha et al. (2021) map WHERE jhum happened. We characterise WHAT each pixel's 35-year story 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402336" cy="402336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727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36-year series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8745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Harmonized Landsat 5/7/8/9 post-monsoon NDVI composites (1990–2025) + CHIRPS rainfall, prepared entirely in Google Earth Engine.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569464"/>
            <a:ext cx="402336" cy="402336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trajectory statistics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81635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Autocorrelation-corrected Mann-Kendall + Sen's slope, RESTREND residual trends, breakpoint timing and magnitude, FFT cyclicity in the 4–12-year jhum band.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511296"/>
            <a:ext cx="402336" cy="402336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4564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trajectories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75818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12 engineered features vs a 1D-CNN on raw series; five classes from stable forest to recovering.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453128"/>
            <a:ext cx="402336" cy="402336"/>
          </a:xfrm>
          <a:prstGeom prst="ellipse">
            <a:avLst/>
          </a:prstGeom>
          <a:solidFill>
            <a:srgbClr val="D68C45"/>
          </a:solidFill>
          <a:ln w="12700">
            <a:solidFill>
              <a:srgbClr val="D68C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39826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blind spot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47000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 what linear MK, RESTREND and trajectory ML each report on known cyclic and degrading land.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394960"/>
            <a:ext cx="402336" cy="402336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5340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 policy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56418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15.3.1-style productivity maps, jhum cycle-length estimates, and an interactive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55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84048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this project fills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Pasha et al. (2021), Remote Sensing — BASE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DTMT threshold mapping of NE-India shifting cultivation 1975–2018; &gt;85% accuracy; 75% extent decline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Year-pair extent only; cannot separate healthy cycles from intensifying 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Yengoh et al. (2015), Springer/UNEP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Definitive review of NDVI for degradation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weaknesses; no cyclic-land remedy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Wessels et al. (2012), 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Detectability limits: 30–40% NDVI loss needed for significant trends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never measured for cyclic systems — we measure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Ibrahim et al. (2015), Remote Sensing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RESTREND with NDVI3g/soil moisture, W. Africa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Drylands method; untested in monsoon NE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Easdale et al. (2019), Ecol. Indicators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 monotonic vs &gt;85% cyclic phases in Patagonia; challenges linear trends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call — we operationalise it with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Kennedy et al. (2010, 2018)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LandTrendr segmentation; GEE 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Breakpoints alone don't classify trajectories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Thong et al. (2019), RSASE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Manipur jhum dynamics; cycle-shortening claims unsubstantiated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estimate cycle length per pixel from spectra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 15.3.1 Assam chapter (2023); Bari et al.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framework applied regionally (Trends.Earth)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 products; no trajectory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DISTRICT OF ASSAM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Area — Karbi Anglong, Assam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720840" y="1536192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200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district map here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3703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core (semi-evergreen forest) · mid-slope jhum belt ·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plains agriculture · 92.30–93.85°E, 25.55–26.60°N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degradation gradient in one frame: forest, jhum, cropland, hotspots, recovery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block of the Meghalaya Plateau, rising from the plains to over 1,300 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328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USE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jhum on mid-slopes; reported cycle shortening never verified with time series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DEPTH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4074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coverage since 1988; post-monsoon window (Oct–Dec) is the least cloudy in NE India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010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24865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trajectory-based ML degradation study for this district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— All Free and Open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55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06240"/>
                <a:gridCol w="219456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/ 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 series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Landsat 5/7/8/9 C2 L2, OLI→ETM+ harmonized (Roy et al. 2016)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 · 1990–2025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vegetation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Post-monsoon median (Oct 15 – Dec 31)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Cloud-minimal, peak biomass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CHIRPS Daily, annual totals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km · 1990–2025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RESTREND covariate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 native LandTrendr on inverted NDVI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year, magnitude, 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labels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Photo-interpretation (GE Pro history) + Pasha et al. 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Trajectory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/ terrain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 shapefile · SRTM DEM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· 30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Clipping, hill/plain strata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120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acquired and preprocessed server-side in Google Earth Engine — no data purchase, no local downloads of 36 years of Landsat.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Four Signals, One Trajectory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19568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Preprocessing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4088" y="2377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masking, harmonization,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composites, CHIRPS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36392" y="2304288"/>
            <a:ext cx="182880" cy="237744"/>
          </a:xfrm>
          <a:prstGeom prst="rightArrow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57016" y="19568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57016" y="2377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Mann-Kendall + Hamed-Rao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correction; Sen's slope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2304288"/>
            <a:ext cx="182880" cy="237744"/>
          </a:xfrm>
          <a:prstGeom prst="rightArrow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9944" y="19568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9944" y="2377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~ rainfall OLS;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trend = human signal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42248" y="2304288"/>
            <a:ext cx="182880" cy="237744"/>
          </a:xfrm>
          <a:prstGeom prst="rightArrow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61704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2872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62872" y="19568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62872" y="2377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LandTrendr segmentation: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how big, how long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749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DCE9DF"/>
          </a:solidFill>
          <a:ln w="12700">
            <a:solidFill>
              <a:srgbClr val="DCE9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858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" y="41513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4088" y="4572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power fraction in the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4–12-yr jhum band + period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36392" y="4498848"/>
            <a:ext cx="182880" cy="237744"/>
          </a:xfrm>
          <a:prstGeom prst="rightArrow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3749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DCE9DF"/>
          </a:solidFill>
          <a:ln w="12700">
            <a:solidFill>
              <a:srgbClr val="DCE9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7016" y="3858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57016" y="41513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ML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557016" y="4572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on 12 features;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benchmark on raw series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89320" y="4498848"/>
            <a:ext cx="182880" cy="237744"/>
          </a:xfrm>
          <a:prstGeom prst="rightArrow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08776" y="3749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3A24"/>
          </a:solidFill>
          <a:ln w="12700">
            <a:solidFill>
              <a:srgbClr val="1F3A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3858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9944" y="41513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Blind-Spot Test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09944" y="4572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C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 MK vs RESTREND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C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RF on known-truth land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842248" y="4498848"/>
            <a:ext cx="182880" cy="237744"/>
          </a:xfrm>
          <a:prstGeom prst="rightArrow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61704" y="3749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3A24"/>
          </a:solidFill>
          <a:ln w="12700">
            <a:solidFill>
              <a:srgbClr val="1F3A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62872" y="3858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62872" y="41513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262872" y="4572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C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15.3.1-style maps, cycle-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C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atlas, dashboard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1475720" y="3346704"/>
            <a:ext cx="237744" cy="329184"/>
          </a:xfrm>
          <a:prstGeom prst="downArrow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IDEA, VISUALLY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Class Looks Like in 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/home/claude/lddeg/outputs/example_traject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63040"/>
            <a:ext cx="749808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0" y="1554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0" y="1783080"/>
            <a:ext cx="274320" cy="128016"/>
          </a:xfrm>
          <a:prstGeom prst="rect">
            <a:avLst/>
          </a:prstGeom>
          <a:solidFill>
            <a:srgbClr val="D68C45"/>
          </a:solidFill>
          <a:ln w="12700">
            <a:solidFill>
              <a:srgbClr val="D68C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0" y="16642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Sawtooth = jhum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0" y="26060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0" y="2834640"/>
            <a:ext cx="274320" cy="128016"/>
          </a:xfrm>
          <a:prstGeom prst="rect">
            <a:avLst/>
          </a:prstGeom>
          <a:solidFill>
            <a:srgbClr val="C0242B"/>
          </a:solidFill>
          <a:ln w="12700">
            <a:solidFill>
              <a:srgbClr val="C024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0" y="27157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then decline = degrading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0" y="3657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0" y="3886200"/>
            <a:ext cx="274320" cy="128016"/>
          </a:xfrm>
          <a:prstGeom prst="rect">
            <a:avLst/>
          </a:prstGeom>
          <a:solidFill>
            <a:srgbClr val="3A86C8"/>
          </a:solidFill>
          <a:ln w="12700">
            <a:solidFill>
              <a:srgbClr val="3A86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0" y="37673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then rise = recovering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0" y="47091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26880" y="4937760"/>
            <a:ext cx="274320" cy="128016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0" y="48188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high = forest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(a trend slope) cannot distinguish these shapes. Twelve trajectory features can.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Headline: Linear Trends Are Blind 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intensifying jhum flagged by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Mann-Kendall — cyclic variance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masks the decline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67.6%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53712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even MONOTONIC degradation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MK — late-onset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are missed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16002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30184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jhum correctly identified as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by the trajectory RF;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degradation caught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reproduces the Wessels et al. (2012) detectability limit in the cyclic case — and shows the fix. The classifier also recovers the median jhum cycle length (7.2 yr), turning the tool into a test of the reported 10–15 → 4–5 yr shortening.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F3A24"/>
          </a:solidFill>
          <a:ln w="12700">
            <a:solidFill>
              <a:srgbClr val="1F3A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0749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implication: SDG 15.3.1 productivity reporting built on significant linear decline systematically undercounts degradation in cyclic-agriculture regions.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— From Statistics to Maps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/home/claude/lddeg/outputs/trajectory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5760720" cy="3657600"/>
          </a:xfrm>
          <a:prstGeom prst="rect">
            <a:avLst/>
          </a:prstGeom>
        </p:spPr>
      </p:pic>
      <p:pic>
        <p:nvPicPr>
          <p:cNvPr id="6" name="Image 1" descr="/home/claude/lddeg/outputs/sdg_productivity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08760"/>
            <a:ext cx="5394960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5212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classes: forest core, jhum belt, hotspots, recovery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55080" y="50749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15.3.1-style productivity: only 1.5% 'degrading' — the jhum belt's intensification is invisible to this statistic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1155680" cy="621792"/>
          </a:xfrm>
          <a:prstGeom prst="roundRect">
            <a:avLst>
              <a:gd name="adj" fmla="val 7353"/>
            </a:avLst>
          </a:prstGeom>
          <a:solidFill>
            <a:srgbClr val="EAF2EC"/>
          </a:solidFill>
          <a:ln w="12700">
            <a:solidFill>
              <a:srgbClr val="E1E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28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7180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(Python API)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0" y="17007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36-year Landsat + CHIRPS processed server-side; LandTrendr runs natively in GEE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111556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59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71800" y="2459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 (vectorized) · pymannkendall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0" y="24323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MK+Sen ~1000x faster than looping; verified against pymannkendall each run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11155680" cy="621792"/>
          </a:xfrm>
          <a:prstGeom prst="roundRect">
            <a:avLst>
              <a:gd name="adj" fmla="val 7353"/>
            </a:avLst>
          </a:prstGeom>
          <a:solidFill>
            <a:srgbClr val="EAF2EC"/>
          </a:solidFill>
          <a:ln w="12700">
            <a:solidFill>
              <a:srgbClr val="E1E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91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71800" y="3191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 Forest) · PyTorch (1D-CNN)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31638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vs end-to-end trajectory classification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111556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227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71800" y="3922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rasterio · geopandas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38953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handling, sampling, clipping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480560"/>
            <a:ext cx="11155680" cy="621792"/>
          </a:xfrm>
          <a:prstGeom prst="roundRect">
            <a:avLst>
              <a:gd name="adj" fmla="val 7353"/>
            </a:avLst>
          </a:prstGeom>
          <a:solidFill>
            <a:srgbClr val="EAF2EC"/>
          </a:solidFill>
          <a:ln w="12700">
            <a:solidFill>
              <a:srgbClr val="E1E8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54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reporting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71800" y="4654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Trends.Earth (QGIS plugin)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0" y="46268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UNCCD-endorsed 15.3.1 sub-indicators for the final report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212080"/>
            <a:ext cx="111556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8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85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71800" y="5385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QGIS · Streamlit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0" y="53583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cartography, interactive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WEEKS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691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Literature, study area, GEE onboarding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06240" y="1728216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EFF4EF"/>
          </a:solidFill>
          <a:ln w="12700">
            <a:solidFill>
              <a:srgbClr val="EFF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1728216"/>
            <a:ext cx="1110996" cy="274320"/>
          </a:xfrm>
          <a:prstGeom prst="roundRect">
            <a:avLst>
              <a:gd name="adj" fmla="val 13333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exports: NDVI/rain stacks, LandTrendr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2322576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EFF4EF"/>
          </a:solidFill>
          <a:ln w="12700">
            <a:solidFill>
              <a:srgbClr val="EFF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17236" y="2322576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03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 via photo-interpretation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2916936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EFF4EF"/>
          </a:solidFill>
          <a:ln w="12700">
            <a:solidFill>
              <a:srgbClr val="EFF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98564" y="2916936"/>
            <a:ext cx="740664" cy="274320"/>
          </a:xfrm>
          <a:prstGeom prst="roundRect">
            <a:avLst>
              <a:gd name="adj" fmla="val 13333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747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+ classification + blind-spot test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0" y="3511296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EFF4EF"/>
          </a:solidFill>
          <a:ln w="12700">
            <a:solidFill>
              <a:srgbClr val="EFF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9228" y="3511296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69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14–15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4069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SDG report, cycle-length analysis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4105656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EFF4EF"/>
          </a:solidFill>
          <a:ln w="12700">
            <a:solidFill>
              <a:srgbClr val="EFF4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0556" y="4105656"/>
            <a:ext cx="740664" cy="274320"/>
          </a:xfrm>
          <a:prstGeom prst="roundRect">
            <a:avLst>
              <a:gd name="adj" fmla="val 13333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63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16–17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4663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paper draft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06240" y="4700016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EFF4EF"/>
          </a:solidFill>
          <a:ln w="12700">
            <a:solidFill>
              <a:srgbClr val="EFF4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61220" y="4700016"/>
            <a:ext cx="740664" cy="274320"/>
          </a:xfrm>
          <a:prstGeom prst="roundRect">
            <a:avLst>
              <a:gd name="adj" fmla="val 13333"/>
            </a:avLst>
          </a:prstGeom>
          <a:solidFill>
            <a:srgbClr val="D68C45"/>
          </a:solidFill>
          <a:ln w="12700">
            <a:solidFill>
              <a:srgbClr val="D68C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57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18–20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83080" y="5257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presentation, submission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06240" y="5294376"/>
            <a:ext cx="7406640" cy="274320"/>
          </a:xfrm>
          <a:prstGeom prst="roundRect">
            <a:avLst>
              <a:gd name="adj" fmla="val 13333"/>
            </a:avLst>
          </a:prstGeom>
          <a:solidFill>
            <a:srgbClr val="EFF4EF"/>
          </a:solidFill>
          <a:ln w="12700">
            <a:solidFill>
              <a:srgbClr val="EFF4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01884" y="5294376"/>
            <a:ext cx="1110996" cy="274320"/>
          </a:xfrm>
          <a:prstGeom prst="roundRect">
            <a:avLst>
              <a:gd name="adj" fmla="val 13333"/>
            </a:avLst>
          </a:prstGeom>
          <a:solidFill>
            <a:srgbClr val="D68C45"/>
          </a:solidFill>
          <a:ln w="12700">
            <a:solidFill>
              <a:srgbClr val="D68C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Milestones: Week 9 (dataset + labels frozen) · Week 13 (headline analysis complete).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Anticipated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class map (5 classes, 30 m) + trend, RESTREND and break-year maps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blind-spot analysis: MK vs RESTREND vs trajectory 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jhum cycle-length atlas — first time-series test of the shortening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15.3.1-style productivity assessment + ward/block statistics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+ reproducible open-source pipeline + paper draft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5544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664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jhum cultural, not degradation?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12280" y="19385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itself, no. The INTENSIFICATION — shorter fallows, falling regrowth peaks — is degradation by the productivity definition; we detect exactly that component.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30175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127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Trends.Earth?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12280" y="34015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do, for reporting format. But its productivity trend is the linear statistic whose blindness we quantify — our trajectory layer is the added value.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448056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45902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label real training data?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12280" y="48646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Photo-interpretation of Google Earth history + Pasha et al. published jhum maps; 150–300 points/class; accuracy reported on a held-out set.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2026-08-12T17:52:37Z</dcterms:created>
  <dcterms:modified xsi:type="dcterms:W3CDTF">2026-08-12T17:52:37Z</dcterms:modified>
</cp:coreProperties>
</file>